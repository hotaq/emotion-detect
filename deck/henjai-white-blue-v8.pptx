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3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6" r:id="rId37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eeingai.com/" TargetMode="External"/><Relationship Id="rId3" Type="http://schemas.openxmlformats.org/officeDocument/2006/relationships/hyperlink" Target="https://support.bemyeyes.com/hc/en-us/articles/18133134809105-How-do-I-use-Be-My-AI" TargetMode="External"/><Relationship Id="rId4" Type="http://schemas.openxmlformats.org/officeDocument/2006/relationships/hyperlink" Target="https://support.letsenvision.com/hc/en-us/articles/7603823400849-Describe-Scene" TargetMode="External"/><Relationship Id="rId5" Type="http://schemas.openxmlformats.org/officeDocument/2006/relationships/hyperlink" Target="https://news.microsoft.com/source/features/ai/15-milestones-that-shaped-microsofts-vision-for-ai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ene_tal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1 · HOOK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06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52657D"/>
                </a:solidFill>
                <a:latin typeface="Thonburi"/>
              </a:rPr>
              <a:t>เขาเงียบเพราะกำลังคิด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121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5200" b="1">
                <a:solidFill>
                  <a:srgbClr val="142D4E"/>
                </a:solidFill>
                <a:latin typeface="Thonburi"/>
              </a:rPr>
              <a:t>หรือเพราะกำลังโกรธคุณอยู่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200" b="1">
                <a:solidFill>
                  <a:srgbClr val="52657D"/>
                </a:solidFill>
                <a:latin typeface="Thonburi"/>
              </a:rPr>
              <a:t>เราตอบได้ใน 0.2 วินาที</a:t>
            </a:r>
          </a:p>
          <a:p>
            <a:pPr algn="ctr">
              <a:lnSpc>
                <a:spcPct val="135000"/>
              </a:lnSpc>
            </a:pPr>
            <a:r>
              <a:rPr sz="4200" b="1">
                <a:solidFill>
                  <a:srgbClr val="52657D"/>
                </a:solidFill>
                <a:latin typeface="Thonburi"/>
              </a:rPr>
              <a:t>เพราะเราเห็นหน้าเขา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106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แต่เขาไม่มีทางรู้เลย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52657D"/>
                </a:solidFill>
                <a:latin typeface="Thonburi"/>
              </a:rPr>
              <a:t>ในประเทศไทย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0" b="1">
                <a:solidFill>
                  <a:srgbClr val="1565D8"/>
                </a:solidFill>
                <a:latin typeface="Thonburi"/>
              </a:rPr>
              <a:t>169,364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142D4E"/>
                </a:solidFill>
                <a:latin typeface="Thonburi"/>
              </a:rPr>
              <a:t>คนพิการทางการเห็น ที่ไม่มีทางรู้ว่าคนตรงหน้ากำลังรู้สึกยังไง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ที่มา : กรมส่งเสริมและพัฒนาคุณภาพชีวิตคนพิการ (พก.) ข้อมูล ณ 31 กรกฎาคม 2569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52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2743200"/>
            <a:ext cx="4754880" cy="1280160"/>
          </a:xfrm>
          <a:prstGeom prst="rect">
            <a:avLst/>
          </a:prstGeom>
          <a:solidFill>
            <a:srgbClr val="EAF2FF"/>
          </a:solidFill>
          <a:ln>
            <a:solidFill>
              <a:srgbClr val="526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0" y="31089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52657D"/>
                </a:solidFill>
                <a:latin typeface="Thonburi"/>
              </a:rPr>
              <a:t>person —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4297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ตัวอย่างผลจากระบบตรวจจับวัตถุ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52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0" y="2560320"/>
            <a:ext cx="5303520" cy="1737360"/>
          </a:xfrm>
          <a:prstGeom prst="rect">
            <a:avLst/>
          </a:prstGeom>
          <a:solidFill>
            <a:srgbClr val="EAF2FF"/>
          </a:solidFill>
          <a:ln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28346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“ชายตรงหน้าคุณกำลังโกรธ</a:t>
            </a:r>
          </a:p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คิ้วขมวดแน่น”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5720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42D4E"/>
                </a:solidFill>
                <a:latin typeface="Thonburi"/>
              </a:rPr>
              <a:t>ตัวอย่างคำบรรยายของ HENJAI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0" b="1">
                <a:solidFill>
                  <a:srgbClr val="142D4E"/>
                </a:solidFill>
                <a:latin typeface="Thonburi"/>
              </a:rPr>
              <a:t>เห็นใจ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1565D8"/>
                </a:solidFill>
                <a:latin typeface="Thonburi"/>
              </a:rPr>
              <a:t>H E N J A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46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52657D"/>
                </a:solidFill>
                <a:latin typeface="Thonburi"/>
              </a:rPr>
              <a:t>มองไม่เห็น ก็เห็นใจกันได้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อ่านสีหน้าคู่สนทนาไม่ได้</a:t>
            </a:r>
          </a:p>
        </p:txBody>
      </p:sp>
      <p:pic>
        <p:nvPicPr>
          <p:cNvPr id="7" name="Picture 6" descr="pain_f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1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ไม่รู้ว่าเขายิ้ม โกรธ เศร้า หรือเบื่อ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ได้ยินแค่เสียง ขาดข้อมูลจากใบหน้า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ตอบสนองไม่ถูก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ควรปลอบ ควรหยุดพูด หรือควรถามต่อ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เสี่ยงเข้าใจผิด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คิดว่าเขาไม่พอใจ ทั้งที่แค่ทำหน้าจริงจัง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อ่านภาษากายไม่ได้</a:t>
            </a:r>
          </a:p>
        </p:txBody>
      </p:sp>
      <p:pic>
        <p:nvPicPr>
          <p:cNvPr id="7" name="Picture 6" descr="pain_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1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ไม่รู้ว่าเขาหันมาหาเรา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หรือกำลังคุยกับคนอื่นอยู่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ประเมินระยะห่างไม่ได้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ยืนใกล้เกินไป หรือไกลเกินไป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พลาดสัญญาณทางสังคม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พยักหน้า โบกมือ ชี้นิ้ว กอดอก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ไม่รู้บริบทของสถานที่</a:t>
            </a:r>
          </a:p>
        </p:txBody>
      </p:sp>
      <p:pic>
        <p:nvPicPr>
          <p:cNvPr id="7" name="Picture 6" descr="pain_en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61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ไม่รู้ว่ามีอะไรขวางอยู่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โต๊ะ เก้าอี้ ประตู เคาน์เตอร์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ไม่รู้ว่าที่นี่ที่ไหน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ร้านกาแฟ ห้องประชุม หรือสถานีรถไฟ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ไม่รู้ลำดับความสำคัญ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อะไรควรรู้ทันที อะไรเป็นแค่รายละเอียด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ผลที่ตามมา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17.2%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ไม่ได้รับการศึกษา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เลยแม้แต่ระดับเดียว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68.9%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จบสูงสุด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แค่ชั้นประถมศึกษา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1.9%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จบปริญญาตรี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หรือเทียบเท่า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ที่มา : กรมส่งเสริมและพัฒนาคุณภาพชีวิตคนพิการ (พก.) ณ 30 เม.ย. 2569 · เฉพาะผู้พิการทางการเห็น 168,763 คน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สมมติฐานเพื่อทดสอบกับผู้ใช้ ยังไม่ใช่ผลสัมภาษณ์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User Insight: ความเงียบที่ตีความไม่ได้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109728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สถานการณ์สมมติ: ผู้มีความบกพร่องทางการเห็นคุยกับเพื่อน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เมื่ออีกฝ่ายเงียบ จึงไม่แน่ใจว่ากำลังคิดหรือไม่พอใจ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พฤติกรรมที่คาด: หยุดพูดหรือถามย้ำเพื่อเช็กความรู้สึก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ความต้องการที่คาด: คำบอกใบหน้าสั้น ๆ เฉพาะจังหวะสำคัญ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92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แนวทางออกแบบ: บอกสัญญาณที่เห็น พร้อมความไม่แน่ใจ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ยืนยันสมมติฐานด้วยการสัมภาษณ์และทดลองกับผู้ใช้จริง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ผลิตภัณฑ์ที่มีอยู่ในตลาด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/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02920" y="201168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65D8"/>
                </a:solidFill>
                <a:latin typeface="Thonburi"/>
                <a:ea typeface="Thonburi"/>
                <a:cs typeface="Thonburi"/>
                <a:hlinkClick r:id="rId2"/>
              </a:rPr>
              <a:t>Seeing AI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502920" y="269748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Microsoft / แอปมือถือ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502920" y="3474720"/>
            <a:ext cx="3520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อ่านข้อความและบรรยายภาพ</a:t>
            </a:r>
          </a:p>
          <a:p>
            <a:pPr algn="l"/>
            <a:r>
              <a:rPr sz="19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ระบุสินค้าและบรรยายบุคคล</a:t>
            </a:r>
          </a:p>
          <a:p>
            <a:pPr algn="l"/>
            <a:r>
              <a:rPr sz="19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Microsoft ระบุว่าบรรยายสีหน้าได้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502920" y="507492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ผู้ช่วยงานมองเห็นทั่วไป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4370832" y="201168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65D8"/>
                </a:solidFill>
                <a:latin typeface="Thonburi"/>
                <a:ea typeface="Thonburi"/>
                <a:cs typeface="Thonburi"/>
                <a:hlinkClick r:id="rId3"/>
              </a:rPr>
              <a:t>Be My AI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4370832" y="269748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ฟีเจอร์ในแอป Be My Eyes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4370832" y="3474720"/>
            <a:ext cx="3520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บรรยายภาพที่ถ่ายหรืออัปโหลด</a:t>
            </a:r>
          </a:p>
          <a:p>
            <a:pPr algn="l"/>
            <a:r>
              <a:rPr sz="19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ถามต่อเกี่ยวกับภาพได้</a:t>
            </a:r>
          </a:p>
          <a:p>
            <a:pPr algn="l"/>
            <a:r>
              <a:rPr sz="19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ต้องเชื่อมต่ออินเทอร์เน็ต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4370832" y="507492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บรรยายภาพและถามตอบ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238744" y="201168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65D8"/>
                </a:solidFill>
                <a:latin typeface="Thonburi"/>
                <a:ea typeface="Thonburi"/>
                <a:cs typeface="Thonburi"/>
                <a:hlinkClick r:id="rId4"/>
              </a:rPr>
              <a:t>Envision Glasses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238744" y="269748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แว่นตาพร้อมกล้องและลำโพง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8238744" y="3474720"/>
            <a:ext cx="3520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ถ่ายภาพเพื่อบรรยายฉาก</a:t>
            </a:r>
          </a:p>
          <a:p>
            <a:pPr algn="l"/>
            <a:r>
              <a:rPr sz="19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ถามต่อด้วย Ask Envision</a:t>
            </a:r>
          </a:p>
          <a:p>
            <a:pPr algn="l"/>
            <a:r>
              <a:rPr sz="19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Describe Scene ต้องใช้อินเทอร์เน็ต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8238744" y="507492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ใช้งานผ่านอุปกรณ์สวมใส่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502920" y="5806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HENJAI: มุ่งคำบรรยายสังคมภาษาไทย และเลือกจังหวะพูดตามภาพที่เปลี่ยน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502920" y="63093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จุดเน้นที่ต้องทดสอบเทียบกับผลิตภัณฑ์จริง ยังไม่ได้ยืนยันว่าเหนือกว่า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502920" y="6629400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2657D"/>
                </a:solidFill>
                <a:latin typeface="Thonburi"/>
                <a:ea typeface="Thonburi"/>
                <a:cs typeface="Thonburi"/>
                <a:hlinkClick r:id="rId5"/>
              </a:rPr>
              <a:t>ที่มา: Seeing AI / Microsoft, Be My Eyes Help Center, Envision Support • ตรวจ 12 ก.ย. 2569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3 · กลุ่มเป้าหมาย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เขามองเห็นแค่ไหน</a:t>
            </a:r>
          </a:p>
        </p:txBody>
      </p:sp>
      <p:pic>
        <p:nvPicPr>
          <p:cNvPr id="7" name="Picture 6" descr="vision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7400"/>
            <a:ext cx="11155680" cy="17000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ปกติ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4056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ระดับ 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65192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6328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7464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720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</a:rPr>
              <a:t>เราเจาะกลุ่มระดับ 3 ถึง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578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52657D"/>
                </a:solidFill>
                <a:latin typeface="Thonburi"/>
              </a:rPr>
              <a:t>บกพร่องรุนแรงถึงตาบอดสนิท — กลุ่มที่เสียงคือช่องทางเดียวที่เหลืออยู่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ภาพจำลองเพื่อการสื่อสาร ไม่ใช่ภาพทางการแพทย์ · เกณฑ์ระดับตามมาตรฐานสากลที่อ้างในเอกสารแนวคิด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โจทย์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ไม่ใช่แค่บอกว่าเห็นอะไร  แต่ต้องผ่านสี่ข้อนี้ให้ได้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พูดตอนไหน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พูดทุกวินาทีคือเสียงรบกวน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เงียบเกินไปคือพลาดเรื่องสำคัญ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ผิดแล้วอันตราย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บอกว่าเขาอารมณ์ดีทั้งที่กำลังโกรธ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แย่กว่าไม่บอกอะไรเลย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ต้องถือมือถือตลอดไหม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มือข้างหนึ่งถือไม้เท้า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อีกข้างต้องว่างไว้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เน็ตหลุดแล้วยังใช้ได้ไหม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8864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รถไฟฟ้า ลิฟต์ ใต้ดิน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คือที่ที่ต้องการมันที่สุด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800" b="0">
                <a:solidFill>
                  <a:srgbClr val="52657D"/>
                </a:solidFill>
                <a:latin typeface="Thonburi"/>
              </a:rPr>
              <a:t>กล้องมือถือที่คุณมีอยู่แล้ว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5000" b="1">
                <a:solidFill>
                  <a:srgbClr val="142D4E"/>
                </a:solidFill>
                <a:latin typeface="Thonburi"/>
              </a:rPr>
              <a:t>สู่ผู้ช่วยที่บอกได้ว่า</a:t>
            </a:r>
          </a:p>
          <a:p>
            <a:pPr algn="ctr">
              <a:lnSpc>
                <a:spcPct val="125000"/>
              </a:lnSpc>
            </a:pPr>
            <a:r>
              <a:rPr sz="5000" b="1">
                <a:solidFill>
                  <a:srgbClr val="142D4E"/>
                </a:solidFill>
                <a:latin typeface="Thonburi"/>
              </a:rPr>
              <a:t>คนตรงหน้ากำลังรู้สึกยังไง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1565D8"/>
                </a:solidFill>
                <a:latin typeface="Thonburi"/>
              </a:rPr>
              <a:t>ไม่ต้องซื้ออุปกรณ์เพิ่ม   ·   ไม่ต้องสวมใส่อะไร   ·   พูดเป็นภาษาไทย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สามอย่างที่มันอ่านให้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อารมณ์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สีหน้า แววตา คิ้ว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“กำลังโกรธ คิ้วขมวดแน่น”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ภาษากาย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หันมาทางเรา ระยะห่าง ท่าทาง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“ยืนกอดอก หันตัวมาทางคุณ”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สภาพแวดล้อม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ที่นี่ที่ไหน มีอะไรขวาง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“ชานชาลารถไฟ คนแน่นมาก”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ตัวอย่างข้างบนคือผลจริงที่ระบบพูดออกมาระหว่างทดสอบ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5 · 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ทำงานยังไง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73736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_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423160"/>
            <a:ext cx="713232" cy="713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กล้อง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75887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2657D"/>
                </a:solidFill>
                <a:latin typeface="Thonburi"/>
              </a:rPr>
              <a:t>30 เฟรม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2657D"/>
                </a:solidFill>
                <a:latin typeface="Thonburi"/>
              </a:rPr>
              <a:t>ต่อวินาที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9718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69164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emo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1938528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86200" y="183794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อารมณ์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22199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สีหน้า แววตา คิ้ว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283464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3081528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86200" y="298094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ภาษากาย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36499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ท่าทาง ระยะห่าง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977639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_en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8" y="4224527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86200" y="4123943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สภาพแวดล้อม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507991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สถานที่ สิ่งกีดขวาง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9718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_f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2395728"/>
            <a:ext cx="676656" cy="6766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75120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รวมความหมาย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ต่อเป็นสถานการณ์เดียว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297180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_prior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8552" y="2395728"/>
            <a:ext cx="676656" cy="6766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549640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จัดลำดับ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อันตรายขึ้นก่อน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22408" y="297180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24159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_spea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3071" y="2395728"/>
            <a:ext cx="676656" cy="67665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424159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พูดภาษาไทย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59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ออกลำโพงทันที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2120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“ชายตรงหน้าคุณกำลังโกรธ คิ้วขมวดแน่น”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8978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ผลจริงที่ระบบพูดออกมาระหว่างทดสอบ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5 · 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ไม่ใช่พูดตลอดเวลา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2657D"/>
                </a:solidFill>
                <a:latin typeface="Thonburi"/>
              </a:rPr>
              <a:t>เราวัดก่อนว่าภาพเปลี่ยนไปแค่ไหน แล้วค่อยตัดสินใจว่าจะถามหรือไม่ถาม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นิ่ง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ไม่พูดเลย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ภาพไม่เปลี่ยน ก็ไม่มีอะไรต้องบอก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ขยับนิด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บอกเฉพาะที่เปลี่ยน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ไม่ทวนฉากเดิมซ้ำ 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เปลี่ยนฉาก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บรรยายที่ใหม่ทั้งหมด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เข้าห้องใหม่ เจอคนใหม่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4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กะทันหัน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เตือนก่อนเลย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มีอะไรเคลื่อนเข้ามาใกล้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6 · เดโม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หน้าตาของจริง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3840480" cy="3840480"/>
          </a:xfrm>
          <a:prstGeom prst="rect">
            <a:avLst/>
          </a:prstGeom>
          <a:solidFill>
            <a:srgbClr val="EAF2FF"/>
          </a:solidFill>
          <a:ln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931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1565D8"/>
                </a:solidFill>
                <a:latin typeface="Thonburi"/>
              </a:rPr>
              <a:t>[ ใส่รูป: app.png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1945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ทั้งหน้าจอคือปุ่มเดียว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83464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ผู้ใช้เรามองไม่เห็น จอจึงไม่มีอะไรให้มอง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กดตรงไหนก็ได้ แล้วฟังอย่างเดียว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เวลามันพูด จะมีคลื่นเสียงขึ้นให้คนข้าง ๆ รู้ว่ากำลังทำงานอยู่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6 · เดโม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6000" b="1">
                <a:solidFill>
                  <a:srgbClr val="142D4E"/>
                </a:solidFill>
                <a:latin typeface="Thonburi"/>
              </a:rPr>
              <a:t>เดโมสด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หันกล้องไปทางกรรมการ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การวัดผลและแผนประเมินร่วมกับผู้เชี่ยวชาญ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แผนเก็บภาพขณะใช้งานในชีวิตประจำวัน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ชุดทดสอบใหม่ที่วางแผนเก็บในระยะถัดไป ไม่ใช่ชุดที่ใช้รายงานผลเบื้องต้น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2920" y="2651760"/>
            <a:ext cx="7040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ระหว่างพูดคุย เดินทาง และใช้พื้นที่สาธารณะ</a:t>
            </a:r>
          </a:p>
          <a:p>
            <a:pPr algn="l">
              <a:lnSpc>
                <a:spcPct val="125000"/>
              </a:lnSpc>
            </a:pPr>
            <a:r>
              <a:rPr sz="21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ครอบคลุมสีหน้า ภาษากาย และสภาพแวดล้อม</a:t>
            </a:r>
          </a:p>
          <a:p>
            <a:pPr algn="l">
              <a:lnSpc>
                <a:spcPct val="125000"/>
              </a:lnSpc>
            </a:pPr>
            <a:r>
              <a:rPr sz="21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เก็บภาพโดยได้รับความยินยอมจากผู้เกี่ยวข้อง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443484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แผนประเมินระยะถัดไป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4937760"/>
            <a:ext cx="7040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ให้ผู้เชี่ยวชาญด้านการมองเห็นทบทวนวิธีวัด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และอนุมัติเกณฑ์ก่อนเริ่มประเมินจริง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จากนั้นทดลองกับผู้ใช้ 10 คนตามเกณฑ์ที่อนุมัติ</a:t>
            </a:r>
          </a:p>
        </p:txBody>
      </p:sp>
      <p:sp>
        <p:nvSpPr>
          <p:cNvPr id="40" name="Expert photo placeholder"/>
          <p:cNvSpPr/>
          <p:nvPr/>
        </p:nvSpPr>
        <p:spPr>
          <a:xfrm>
            <a:off x="8275320" y="1874520"/>
            <a:ext cx="33832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1"/>
          <p:cNvSpPr txBox="1"/>
          <p:nvPr/>
        </p:nvSpPr>
        <p:spPr>
          <a:xfrm>
            <a:off x="8275320" y="53492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ผู้เชี่ยวชาญด้านการมองเห็น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75320" y="5943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แผนเชิญร่วมประเมิน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ผลที่ได้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6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อ่านภาษากายถูก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6 /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อ่านสภาพแวดล้อมถูก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4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อ่านอารมณ์ถูก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8864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2.2 วิ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ต่อการบรรยายหนึ่งครั้ง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อารมณ์คือด้านที่ยังต้องพัฒนาต่อ — และเรารู้แล้วว่าเพราะอะไร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ความผิดพลาดที่เราเจอเอง</a:t>
            </a:r>
          </a:p>
        </p:txBody>
      </p:sp>
      <p:pic>
        <p:nvPicPr>
          <p:cNvPr id="7" name="Picture 6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3049341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219456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เวอร์ชันแรกบรรยายว่า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65176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52657D"/>
                </a:solidFill>
                <a:latin typeface="Thonburi"/>
              </a:rPr>
              <a:t>“ชายหนุ่มหน้าตาใจดี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52657D"/>
                </a:solidFill>
                <a:latin typeface="Thonburi"/>
              </a:rPr>
              <a:t>กำลังส่งยิ้มทะเล้นให้คุณ”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1148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565D8"/>
                </a:solidFill>
                <a:latin typeface="Thonburi"/>
              </a:rPr>
              <a:t>หลังแก้ระบบ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57200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“ชายคนหนึ่งกำลังทำหน้าตาโกรธจัด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คิ้วขมวดแน่นจนหน้าผากย่น”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ถ้าผู้ใช้ได้ยินประโยคแรก เขาจะเดินเข้าไปคุยต่อ ทั้งที่อีกฝ่ายกำลังโกรธ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ทำงานได้จริงบนเครื่องธรรมดา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เฟรมต่อวินาที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วิดีโอไม่กระตุก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2.2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วินาที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ตั้งแต่เห็นจนพูดออกมา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ครั้งที่ระบบค้าง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ตลอดการทดสอบ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8 · ก้าวต่อไป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Roadmap 12 สัปดาห์</a:t>
            </a:r>
          </a:p>
        </p:txBody>
      </p:sp>
      <p:graphicFrame>
        <p:nvGraphicFramePr>
          <p:cNvPr id="20" name="Roadmap table"/>
          <p:cNvGraphicFramePr/>
          <p:nvPr/>
        </p:nvGraphicFramePr>
        <p:xfrm>
          <a:off x="502920" y="1828800"/>
          <a:ext cx="11155680" cy="4297680"/>
        </p:xfrm>
        <a:graphic>
          <a:graphicData uri="http://schemas.openxmlformats.org/drawingml/2006/table">
            <a:tbl>
              <a:tblPr firstRow="1" bandRow="0"/>
              <a:tblGrid>
                <a:gridCol w="1600200"/>
                <a:gridCol w="2388870"/>
                <a:gridCol w="2388870"/>
                <a:gridCol w="2388870"/>
                <a:gridCol w="2388870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แผนงาน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W1–2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เข้าใจผู้ใช้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6C9D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W3–6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พัฒนาและเตรียม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397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W7–10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ทดลองใช้งาน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W11–12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สรุปผล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0479D"/>
                    </a:solidFill>
                  </a:tcPr>
                </a:tc>
              </a:tr>
              <a:tr h="115824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ระบบ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กำหนดขอบเขต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จากปัญหาผู้ใช้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พัฒนา AI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และการแจ้งเตือน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วัดความถูกต้อง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และความเสถียร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สรุปข้อผิดพลาด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และปรับระบบ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5824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การประเมิน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ร่างวิธีวัด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ตามเอกสารแนวคิด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ผู้เชี่ยวชาญทบทวน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และอนุมัติเกณฑ์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บันทึกผลตาม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เกณฑ์ที่อนุมัติ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ผู้เชี่ยวชาญร่วม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ทบทวนผล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5824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ผู้ใช้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สัมภาษณ์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ผู้ใช้ 10 คน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เตรียมกลุ่มทดลอง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และขอความยินยอม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ทดลองใช้ 10 คน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นาน 2 สัปดาห์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สรุปข้อเสนอแนะ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และแผนพัฒนาต่อ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Text 40"/>
          <p:cNvSpPr txBox="1"/>
          <p:nvPr/>
        </p:nvSpPr>
        <p:spPr>
          <a:xfrm>
            <a:off x="50292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อนุมัติเกณฑ์ก่อนทดลองกับผู้ใช้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8 · ทีม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ทีม Rushhour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วิศวกรรมคอมพิวเตอร์และเทคโนโลยีดิจิทัล (CEDT) จุฬาลงกรณ์มหาวิทยาลัย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กิตติพงศ์ สมสอาด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ชินพัฒน์ ขุนเจริญ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เรข์ณพัศ สุวรรณปริสุทธิ์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3800" b="1">
                <a:solidFill>
                  <a:srgbClr val="52657D"/>
                </a:solidFill>
                <a:latin typeface="Thonburi"/>
              </a:rPr>
              <a:t>เขาเงียบเพราะกำลังคิด</a:t>
            </a:r>
          </a:p>
          <a:p>
            <a:pPr algn="ctr">
              <a:lnSpc>
                <a:spcPct val="135000"/>
              </a:lnSpc>
            </a:pPr>
            <a:r>
              <a:rPr sz="3800" b="1">
                <a:solidFill>
                  <a:srgbClr val="52657D"/>
                </a:solidFill>
                <a:latin typeface="Thonburi"/>
              </a:rPr>
              <a:t>หรือเพราะกำลังโกรธ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วันนี้เราตอบให้เขาได้แล้ว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9377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เห็นใจ — มองไม่เห็น ก็เห็นใจกันได้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42D4E"/>
                </a:solidFill>
                <a:latin typeface="Thonburi"/>
              </a:rPr>
              <a:t>สถาปัตยกรรมตามเอกสารแนวคิด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914400"/>
            <a:ext cx="426360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</a:rPr>
              <a:t>ที่มาข้อมูล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กรมส่งเสริมและพัฒนาคุณภาพชีวิตคนพิการ (พก.) — รายงานข้อมูลสถานการณ์ด้านคนพิการ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ข้อมูล ณ 31 ก.ค. 2569 · dep.go.th/images/uploads/files/Dashboard072569.pdf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สำนักงานสถิติแห่งชาติ — การสำรวจความพิการ พ.ศ. 2565 (ร่วมกับ UNICEF)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nso.go.th/nsoweb/storage/survey_detail/2023/20230725162812_14118.pdf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WHO — Blindness and vision impairment fact sheet (ปรับปรุง 10 ก.พ. 2026)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who.int/news-room/fact-sheets/detail/blindness-and-visual-impairment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IAPB Vision Atlas — Thailand country data · visionatlas.iapb.org/country-data/thailand/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ภาพทดสอบทั้งหมดจาก Openverse เฉพาะสัญญาอนุญาตที่ใช้ได้ — รายชื่อผู้สร้างครบใน poc/eval/manifest.json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8 · ก้าวต่อไป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แนวทางประเมินที่เสนอ (KPI)</a:t>
            </a:r>
          </a:p>
        </p:txBody>
      </p:sp>
      <p:graphicFrame>
        <p:nvGraphicFramePr>
          <p:cNvPr id="20" name="Roadmap table"/>
          <p:cNvGraphicFramePr/>
          <p:nvPr/>
        </p:nvGraphicFramePr>
        <p:xfrm>
          <a:off x="502920" y="2194560"/>
          <a:ext cx="11155680" cy="3840480"/>
        </p:xfrm>
        <a:graphic>
          <a:graphicData uri="http://schemas.openxmlformats.org/drawingml/2006/table">
            <a:tbl>
              <a:tblPr firstRow="1" bandRow="0"/>
              <a:tblGrid>
                <a:gridCol w="1828800"/>
                <a:gridCol w="5029200"/>
                <a:gridCol w="429768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ด้านที่วัด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ตัวชี้วัดจากเอกสาร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วิธีประเมินที่เสนอ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การตรวจจับ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Precision, Recall, F1-score, mAP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เทียบกับข้อมูลที่คนกำกับ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อารมณ์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Macro F1-score, Balanced Accuracy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เทียบกับป้ายกำกับจากมนุษย์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บริบท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Context Accuracy, Critical Error Rate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ผู้เชี่ยวชาญตรวจความถูกต้อง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คำบรรยาย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Correctness, Helpfulness,</a:t>
                      </a:r>
                    </a:p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Conciseness, Hallucination Rate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ให้คะแนนคำบรรยายภาษาไทย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ความปลอดภัย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Hazard Recall, Time-to-Alert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วัดการตรวจพบและเวลาเตือน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32" name="Text 32"/>
          <p:cNvSpPr txBox="1"/>
          <p:nvPr/>
        </p:nvSpPr>
        <p:spPr>
          <a:xfrm>
            <a:off x="502920" y="1737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ยังไม่มีเกณฑ์ผ่านที่ยืนยันแล้ว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50292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ให้ผู้เชี่ยวชาญทบทวนวิธีวัดและอนุมัติเกณฑ์ก่อนประเมินจริง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อ้างอิง: CONCEPT IDEA, Plan Test หน้า 8–9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