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cene_tal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1 · HOOK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066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4400" b="1">
                <a:solidFill>
                  <a:srgbClr val="52657D"/>
                </a:solidFill>
                <a:latin typeface="Thonburi"/>
              </a:rPr>
              <a:t>เขาเงียบเพราะกำลังคิด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121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5200" b="1">
                <a:solidFill>
                  <a:srgbClr val="142D4E"/>
                </a:solidFill>
                <a:latin typeface="Thonburi"/>
              </a:rPr>
              <a:t>หรือเพราะกำลังโกรธคุณอยู่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4200" b="1">
                <a:solidFill>
                  <a:srgbClr val="52657D"/>
                </a:solidFill>
                <a:latin typeface="Thonburi"/>
              </a:rPr>
              <a:t>เราตอบได้ใน 0.2 วินาที</a:t>
            </a:r>
          </a:p>
          <a:p>
            <a:pPr algn="ctr">
              <a:lnSpc>
                <a:spcPct val="135000"/>
              </a:lnSpc>
            </a:pPr>
            <a:r>
              <a:rPr sz="4200" b="1">
                <a:solidFill>
                  <a:srgbClr val="52657D"/>
                </a:solidFill>
                <a:latin typeface="Thonburi"/>
              </a:rPr>
              <a:t>เพราะเราเห็นหน้าเขา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1066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แต่เขาไม่มีทางรู้เลย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52657D"/>
                </a:solidFill>
                <a:latin typeface="Thonburi"/>
              </a:rPr>
              <a:t>ในประเทศไทย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0" b="1">
                <a:solidFill>
                  <a:srgbClr val="1565D8"/>
                </a:solidFill>
                <a:latin typeface="Thonburi"/>
              </a:rPr>
              <a:t>169,364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148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>
                <a:solidFill>
                  <a:srgbClr val="142D4E"/>
                </a:solidFill>
                <a:latin typeface="Thonburi"/>
              </a:rPr>
              <a:t>คนพิการทางการเห็น ที่ไม่มีทางรู้ว่าคนตรงหน้ากำลังรู้สึกยังไง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ที่มา : กรมส่งเสริมและพัฒนาคุณภาพชีวิตคนพิการ (พก.) ข้อมูล ณ 31 กรกฎาคม 2569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ng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52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766560" y="2743200"/>
            <a:ext cx="4754880" cy="1280160"/>
          </a:xfrm>
          <a:prstGeom prst="rect">
            <a:avLst/>
          </a:prstGeom>
          <a:solidFill>
            <a:srgbClr val="EAF2FF"/>
          </a:solidFill>
          <a:ln>
            <a:solidFill>
              <a:srgbClr val="526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0" y="31089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>
                <a:solidFill>
                  <a:srgbClr val="52657D"/>
                </a:solidFill>
                <a:latin typeface="Thonburi"/>
              </a:rPr>
              <a:t>person —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4297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เทคโนโลยีทุกวันนี้บอกได้แค่นี้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ng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52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0" y="2560320"/>
            <a:ext cx="5303520" cy="1737360"/>
          </a:xfrm>
          <a:prstGeom prst="rect">
            <a:avLst/>
          </a:prstGeom>
          <a:solidFill>
            <a:srgbClr val="EAF2FF"/>
          </a:solidFill>
          <a:ln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0" y="283464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“ชายตรงหน้าคุณกำลังโกรธ</a:t>
            </a:r>
          </a:p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คิ้วขมวดแน่น”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5720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142D4E"/>
                </a:solidFill>
                <a:latin typeface="Thonburi"/>
              </a:rPr>
              <a:t>สิ่งที่เขาต้องการจริง 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03120"/>
            <a:ext cx="12191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0" b="1">
                <a:solidFill>
                  <a:srgbClr val="142D4E"/>
                </a:solidFill>
                <a:latin typeface="Thonburi"/>
              </a:rPr>
              <a:t>เห็นใจ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9319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>
                <a:solidFill>
                  <a:srgbClr val="1565D8"/>
                </a:solidFill>
                <a:latin typeface="Thonburi"/>
              </a:rPr>
              <a:t>H E N J A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8463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52657D"/>
                </a:solidFill>
                <a:latin typeface="Thonburi"/>
              </a:rPr>
              <a:t>มองไม่เห็น ก็เห็นใจกันได้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อ่านสีหน้าคู่สนทนาไม่ได้</a:t>
            </a:r>
          </a:p>
        </p:txBody>
      </p:sp>
      <p:pic>
        <p:nvPicPr>
          <p:cNvPr id="7" name="Picture 6" descr="pain_fa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11680"/>
            <a:ext cx="4754880" cy="31714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1945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ไม่รู้ว่าเขายิ้ม โกรธ เศร้า หรือเบื่อ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ได้ยินแค่เสียง ขาดข้อมูลจากใบหน้า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ตอบสนองไม่ถูก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2160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ควรปลอบ ควรหยุดพูด หรือควรถามต่อ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976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เสี่ยงเข้าใจผิด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73167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คิดว่าเขาไม่พอใจ ทั้งที่แค่ทำหน้าจริงจัง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อ่านภาษากายไม่ได้</a:t>
            </a:r>
          </a:p>
        </p:txBody>
      </p:sp>
      <p:pic>
        <p:nvPicPr>
          <p:cNvPr id="7" name="Picture 6" descr="pain_bod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11680"/>
            <a:ext cx="4754880" cy="31714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1945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ไม่รู้ว่าเขาหันมาหาเรา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หรือกำลังคุยกับคนอื่นอยู่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ประเมินระยะห่างไม่ได้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2160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ยืนใกล้เกินไป หรือไกลเกินไป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976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พลาดสัญญาณทางสังคม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73167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พยักหน้า โบกมือ ชี้นิ้ว กอดอก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ไม่รู้บริบทของสถานที่</a:t>
            </a:r>
          </a:p>
        </p:txBody>
      </p:sp>
      <p:pic>
        <p:nvPicPr>
          <p:cNvPr id="7" name="Picture 6" descr="pain_en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11680"/>
            <a:ext cx="4754880" cy="317611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1945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ไม่รู้ว่ามีอะไรขวางอยู่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โต๊ะ เก้าอี้ ประตู เคาน์เตอร์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ไม่รู้ว่าที่นี่ที่ไหน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21608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ร้านกาแฟ ห้องประชุม หรือสถานีรถไฟ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976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1565D8"/>
                </a:solidFill>
                <a:latin typeface="Thonburi"/>
              </a:rPr>
              <a:t>ไม่รู้ลำดับความสำคัญ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73167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อะไรควรรู้ทันที อะไรเป็นแค่รายละเอียด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ผลที่ตามมา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17.2%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033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ไม่ได้รับการศึกษา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เลยแม้แต่ระดับเดียว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68.9%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7033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จบสูงสุด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แค่ชั้นประถมศึกษา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28600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1.9%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70332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จบปริญญาตรี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หรือเทียบเท่า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ที่มา : กรมส่งเสริมและพัฒนาคุณภาพชีวิตคนพิการ (พก.) ณ 30 เม.ย. 2569 · เฉพาะผู้พิการทางการเห็น 168,763 คน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565D8"/>
                </a:solidFill>
                <a:latin typeface="Thonburi"/>
              </a:rPr>
              <a:t>⚠ ยังไม่มีข้อมูล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เคสจริง — ผู้ใช้ 1 คน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ต้องสัมภาษณ์คนตาบอดจริงอย่างน้อย 1 คน ผ่านสมาคมคนตาบอดแห่งประเทศไทย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ใบนี้คือใบที่แข็งที่สุดของเดคที่ชนะ — ต้องมี ชื่อ อายุ เหตุการณ์จริงที่เขาพลาด</a:t>
            </a: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เพราะอ่านสีหน้าไม่ออก และพฤติกรรมการใช้มือถือทุกวันนี้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2 · ปัญหา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ของที่มีอยู่แล้ว บอกได้แค่ไหน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52657D"/>
                </a:solidFill>
                <a:latin typeface="Thonburi"/>
              </a:rPr>
              <a:t>ที่มีอยู่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8346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>
                <a:solidFill>
                  <a:srgbClr val="52657D"/>
                </a:solidFill>
                <a:latin typeface="Thonburi"/>
              </a:rPr>
              <a:t>“มีคนหนึ่งคน</a:t>
            </a:r>
          </a:p>
          <a:p>
            <a:pPr algn="l">
              <a:lnSpc>
                <a:spcPct val="125000"/>
              </a:lnSpc>
            </a:pPr>
            <a:r>
              <a:rPr sz="3000" b="0">
                <a:solidFill>
                  <a:srgbClr val="52657D"/>
                </a:solidFill>
                <a:latin typeface="Thonburi"/>
              </a:rPr>
              <a:t>มีโต๊ะอยู่ทางขวา”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54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บอกสิ่งที่เห็น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565D8"/>
                </a:solidFill>
                <a:latin typeface="Thonburi"/>
              </a:rPr>
              <a:t>เห็นใจ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42D4E"/>
                </a:solidFill>
                <a:latin typeface="Thonburi"/>
              </a:rPr>
              <a:t>“ชายตรงหน้าคุณกำลังโกรธ</a:t>
            </a:r>
          </a:p>
          <a:p>
            <a:pPr algn="l">
              <a:lnSpc>
                <a:spcPct val="125000"/>
              </a:lnSpc>
            </a:pPr>
            <a:r>
              <a:rPr sz="3000" b="1">
                <a:solidFill>
                  <a:srgbClr val="142D4E"/>
                </a:solidFill>
                <a:latin typeface="Thonburi"/>
              </a:rPr>
              <a:t>คิ้วขมวดแน่น”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754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565D8"/>
                </a:solidFill>
                <a:latin typeface="Thonburi"/>
              </a:rPr>
              <a:t>บอกความหมาย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3 · กลุ่มเป้าหมาย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เขามองเห็นแค่ไหน</a:t>
            </a:r>
          </a:p>
        </p:txBody>
      </p:sp>
      <p:pic>
        <p:nvPicPr>
          <p:cNvPr id="7" name="Picture 6" descr="vision_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57400"/>
            <a:ext cx="11155680" cy="17000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ปกติ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34056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ระดับ 1-2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65192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565D8"/>
                </a:solidFill>
                <a:latin typeface="Thonburi"/>
              </a:rPr>
              <a:t>ระดับ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96328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565D8"/>
                </a:solidFill>
                <a:latin typeface="Thonburi"/>
              </a:rPr>
              <a:t>ระดับ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27464" y="3886200"/>
            <a:ext cx="2231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565D8"/>
                </a:solidFill>
                <a:latin typeface="Thonburi"/>
              </a:rPr>
              <a:t>ระดับ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720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142D4E"/>
                </a:solidFill>
                <a:latin typeface="Thonburi"/>
              </a:rPr>
              <a:t>เราเจาะกลุ่มระดับ 3 ถึง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2578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>
                <a:solidFill>
                  <a:srgbClr val="52657D"/>
                </a:solidFill>
                <a:latin typeface="Thonburi"/>
              </a:rPr>
              <a:t>บกพร่องรุนแรงถึงตาบอดสนิท — กลุ่มที่เสียงคือช่องทางเดียวที่เหลืออยู่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ภาพจำลองเพื่อการสื่อสาร ไม่ใช่ภาพทางการแพทย์ · เกณฑ์ระดับตามมาตรฐานสากลที่อ้างในเอกสารแนวคิด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4 · ทางแก้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42D4E"/>
                </a:solidFill>
                <a:latin typeface="Thonburi"/>
              </a:rPr>
              <a:t>โจทย์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52657D"/>
                </a:solidFill>
                <a:latin typeface="Thonburi"/>
              </a:rPr>
              <a:t>ไม่ใช่แค่บอกว่าเห็นอะไร  แต่ต้องผ่านสี่ข้อนี้ให้ได้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565D8"/>
                </a:solidFill>
                <a:latin typeface="Thonburi"/>
              </a:rPr>
              <a:t>พูดตอนไหน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พูดทุกวินาทีคือเสียงรบกวน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เงียบเกินไปคือพลาดเรื่องสำคัญ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565D8"/>
                </a:solidFill>
                <a:latin typeface="Thonburi"/>
              </a:rPr>
              <a:t>ผิดแล้วอันตราย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บอกว่าเขาอารมณ์ดีทั้งที่กำลังโกรธ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แย่กว่าไม่บอกอะไรเลย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565D8"/>
                </a:solidFill>
                <a:latin typeface="Thonburi"/>
              </a:rPr>
              <a:t>ต้องถือมือถือตลอดไหม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มือข้างหนึ่งถือไม้เท้า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อีกข้างต้องว่างไว้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8864" y="292608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565D8"/>
                </a:solidFill>
                <a:latin typeface="Thonburi"/>
              </a:rPr>
              <a:t>เน็ตหลุดแล้วยังใช้ได้ไหม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8864" y="3749039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รถไฟฟ้า ลิฟต์ ใต้ดิน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คือที่ที่ต้องการมันที่สุด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4 · ทางแก้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800" b="0">
                <a:solidFill>
                  <a:srgbClr val="52657D"/>
                </a:solidFill>
                <a:latin typeface="Thonburi"/>
              </a:rPr>
              <a:t>กล้องมือถือที่คุณมีอยู่แล้ว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4320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5000" b="1">
                <a:solidFill>
                  <a:srgbClr val="142D4E"/>
                </a:solidFill>
                <a:latin typeface="Thonburi"/>
              </a:rPr>
              <a:t>สู่ผู้ช่วยที่บอกได้ว่า</a:t>
            </a:r>
          </a:p>
          <a:p>
            <a:pPr algn="ctr">
              <a:lnSpc>
                <a:spcPct val="125000"/>
              </a:lnSpc>
            </a:pPr>
            <a:r>
              <a:rPr sz="5000" b="1">
                <a:solidFill>
                  <a:srgbClr val="142D4E"/>
                </a:solidFill>
                <a:latin typeface="Thonburi"/>
              </a:rPr>
              <a:t>คนตรงหน้ากำลังรู้สึกยังไง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029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1565D8"/>
                </a:solidFill>
                <a:latin typeface="Thonburi"/>
              </a:rPr>
              <a:t>ไม่ต้องซื้ออุปกรณ์เพิ่ม   ·   ไม่ต้องสวมใส่อะไร   ·   พูดเป็นภาษาไทย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4 · ทางแก้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สามอย่างที่มันอ่านให้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565D8"/>
                </a:solidFill>
                <a:latin typeface="Thonburi"/>
              </a:rPr>
              <a:t>อารมณ์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สีหน้า แววตา คิ้ว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40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“กำลังโกรธ คิ้วขมวดแน่น”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286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565D8"/>
                </a:solidFill>
                <a:latin typeface="Thonburi"/>
              </a:rPr>
              <a:t>ภาษากาย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017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หันมาทางเรา ระยะห่าง ท่าทาง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840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“ยืนกอดอก หันตัวมาทางคุณ”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286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565D8"/>
                </a:solidFill>
                <a:latin typeface="Thonburi"/>
              </a:rPr>
              <a:t>สภาพแวดล้อม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0175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52657D"/>
                </a:solidFill>
                <a:latin typeface="Thonburi"/>
              </a:rPr>
              <a:t>ที่นี่ที่ไหน มีอะไรขวาง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840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“ชานชาลารถไฟ คนแน่นมาก”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ตัวอย่างข้างบนคือผลจริงที่ระบบพูดออกมาระหว่างทดสอบ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5 · สถาปัตยกรรม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ทำงานยังไง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1737360" cy="2286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_c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423160"/>
            <a:ext cx="713232" cy="713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32918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142D4E"/>
                </a:solidFill>
                <a:latin typeface="Thonburi"/>
              </a:rPr>
              <a:t>กล้อง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75887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2657D"/>
                </a:solidFill>
                <a:latin typeface="Thonburi"/>
              </a:rPr>
              <a:t>30 เฟรม</a:t>
            </a:r>
          </a:p>
          <a:p>
            <a:pPr algn="ctr">
              <a:lnSpc>
                <a:spcPct val="125000"/>
              </a:lnSpc>
            </a:pPr>
            <a:r>
              <a:rPr sz="1300" b="0">
                <a:solidFill>
                  <a:srgbClr val="52657D"/>
                </a:solidFill>
                <a:latin typeface="Thonburi"/>
              </a:rPr>
              <a:t>ต่อวินาที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97180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565D8"/>
                </a:solidFill>
                <a:latin typeface="Thonbu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691640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1905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_emo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248" y="1938528"/>
            <a:ext cx="548640" cy="548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86200" y="183794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2D4E"/>
                </a:solidFill>
                <a:latin typeface="Thonburi"/>
              </a:rPr>
              <a:t>อารมณ์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221992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สีหน้า แววตา คิ้ว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360" y="2834640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1905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_bod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3081528"/>
            <a:ext cx="548640" cy="548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886200" y="298094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2D4E"/>
                </a:solidFill>
                <a:latin typeface="Thonburi"/>
              </a:rPr>
              <a:t>ภาษากาย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3364992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ท่าทาง ระยะห่าง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3977639"/>
            <a:ext cx="3200400" cy="105156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 w="19050"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_en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7248" y="4224527"/>
            <a:ext cx="548640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886200" y="4123943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42D4E"/>
                </a:solidFill>
                <a:latin typeface="Thonburi"/>
              </a:rPr>
              <a:t>สภาพแวดล้อม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4507991"/>
            <a:ext cx="2057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สถานที่ สิ่งกีดขวาง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971800"/>
            <a:ext cx="411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565D8"/>
                </a:solidFill>
                <a:latin typeface="Thonbur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2103120"/>
            <a:ext cx="1554480" cy="2286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c_f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032" y="2395728"/>
            <a:ext cx="676656" cy="67665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75120" y="3246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42D4E"/>
                </a:solidFill>
                <a:latin typeface="Thonburi"/>
              </a:rPr>
              <a:t>รวมความหมาย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63931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ต่อเป็นสถานการณ์เดียว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2971800"/>
            <a:ext cx="301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565D8"/>
                </a:solidFill>
                <a:latin typeface="Thonbur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49640" y="2103120"/>
            <a:ext cx="1554480" cy="2286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_prior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8552" y="2395728"/>
            <a:ext cx="676656" cy="6766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549640" y="3246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42D4E"/>
                </a:solidFill>
                <a:latin typeface="Thonburi"/>
              </a:rPr>
              <a:t>จัดลำดับ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363931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อันตรายขึ้นก่อน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22408" y="2971800"/>
            <a:ext cx="301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1">
                <a:solidFill>
                  <a:srgbClr val="1565D8"/>
                </a:solidFill>
                <a:latin typeface="Thonburi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24159" y="2103120"/>
            <a:ext cx="1554480" cy="2286000"/>
          </a:xfrm>
          <a:prstGeom prst="roundRect">
            <a:avLst>
              <a:gd name="adj" fmla="val 12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c_spea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63071" y="2395728"/>
            <a:ext cx="676656" cy="67665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424159" y="32461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42D4E"/>
                </a:solidFill>
                <a:latin typeface="Thonburi"/>
              </a:rPr>
              <a:t>พูดภาษาไทย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59" y="363931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52657D"/>
                </a:solidFill>
                <a:latin typeface="Thonburi"/>
              </a:rPr>
              <a:t>ออกลำโพงทันที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21208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“ชายตรงหน้าคุณกำลังโกรธ คิ้วขมวดแน่น”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8978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ผลจริงที่ระบบพูดออกมาระหว่างทดสอบ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5 · สถาปัตยกรรม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ไม่ใช่พูดตลอดเวลา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52657D"/>
                </a:solidFill>
                <a:latin typeface="Thonburi"/>
              </a:rPr>
              <a:t>เราวัดก่อนว่าภาพเปลี่ยนไปแค่ไหน แล้วค่อยตัดสินใจว่าจะถามหรือไม่ถาม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นิ่ง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2D4E"/>
                </a:solidFill>
                <a:latin typeface="Thonburi"/>
              </a:rPr>
              <a:t>ไม่พูดเลย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ภาพไม่เปลี่ยน ก็ไม่มีอะไรต้องบอก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ขยับนิด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2D4E"/>
                </a:solidFill>
                <a:latin typeface="Thonburi"/>
              </a:rPr>
              <a:t>บอกเฉพาะที่เปลี่ยน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ไม่ทวนฉากเดิมซ้ำ 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เปลี่ยนฉาก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2D4E"/>
                </a:solidFill>
                <a:latin typeface="Thonburi"/>
              </a:rPr>
              <a:t>บรรยายที่ใหม่ทั้งหมด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เข้าห้องใหม่ เจอคนใหม่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8864" y="274320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กะทันหัน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8864" y="347472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42D4E"/>
                </a:solidFill>
                <a:latin typeface="Thonburi"/>
              </a:rPr>
              <a:t>เตือนก่อนเลย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8864" y="411480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มีอะไรเคลื่อนเข้ามาใกล้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6 · เดโม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หน้าตาของจริง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3840480" cy="3840480"/>
          </a:xfrm>
          <a:prstGeom prst="rect">
            <a:avLst/>
          </a:prstGeom>
          <a:solidFill>
            <a:srgbClr val="EAF2FF"/>
          </a:solidFill>
          <a:ln>
            <a:solidFill>
              <a:srgbClr val="1565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931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>
                <a:solidFill>
                  <a:srgbClr val="1565D8"/>
                </a:solidFill>
                <a:latin typeface="Thonburi"/>
              </a:rPr>
              <a:t>[ ใส่รูป: app.png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1945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ทั้งหน้าจอคือปุ่มเดียว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83464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ผู้ใช้เรามองไม่เห็น จอจึงไม่มีอะไรให้มอง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กดตรงไหนก็ได้ แล้วฟังอย่างเดียว</a:t>
            </a:r>
          </a:p>
          <a:p>
            <a:pPr algn="l">
              <a:lnSpc>
                <a:spcPct val="125000"/>
              </a:lnSpc>
            </a:pPr>
            <a:r>
              <a:rPr sz="1900" b="0">
                <a:solidFill>
                  <a:srgbClr val="142D4E"/>
                </a:solidFill>
                <a:latin typeface="Thonburi"/>
              </a:rPr>
              <a:t>เวลามันพูด จะมีคลื่นเสียงขึ้นให้คนข้าง ๆ รู้ว่ากำลังทำงานอยู่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6 · เดโม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6000" b="1">
                <a:solidFill>
                  <a:srgbClr val="142D4E"/>
                </a:solidFill>
                <a:latin typeface="Thonburi"/>
              </a:rPr>
              <a:t>เดโมสด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52657D"/>
                </a:solidFill>
                <a:latin typeface="Thonburi"/>
              </a:rPr>
              <a:t>หันกล้องไปทางกรรมการ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เราวัดจริง ไม่ได้เดโมแต่ทางที่สวย</a:t>
            </a:r>
          </a:p>
        </p:txBody>
      </p:sp>
      <p:pic>
        <p:nvPicPr>
          <p:cNvPr id="7" name="Picture 6" descr="test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11155680" cy="31375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39319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142D4E"/>
                </a:solidFill>
                <a:latin typeface="Thonburi"/>
              </a:rPr>
              <a:t>ภาพทดสอบ 24 ใบ 4 กลุ่ม — อารมณ์ · ภาษากาย · สภาพแวดล้อม · ภาพที่ไม่มีคน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ภาพจาก Openverse เฉพาะสัญญาอนุญาต CC BY / CC BY-SA / CC0 · เก็บที่มาและผู้สร้างครบทุกใบ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ผลที่ได้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6 /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อ่านภาษากายถูก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01568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6 /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อ่านสภาพแวดล้อมถูก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216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4 /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อ่านอารมณ์ถูก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98864" y="237744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4400" b="1">
                <a:solidFill>
                  <a:srgbClr val="1565D8"/>
                </a:solidFill>
                <a:latin typeface="Thonburi"/>
              </a:rPr>
              <a:t>2.2 วิ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8864" y="35661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142D4E"/>
                </a:solidFill>
                <a:latin typeface="Thonburi"/>
              </a:rPr>
              <a:t>ต่อการบรรยายหนึ่งครั้ง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548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>
                <a:solidFill>
                  <a:srgbClr val="52657D"/>
                </a:solidFill>
                <a:latin typeface="Thonburi"/>
              </a:rPr>
              <a:t>อารมณ์คือด้านที่ยังต้องพัฒนาต่อ — และเรารู้แล้วว่าเพราะอะไร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ความผิดพลาดที่เราเจอเอง</a:t>
            </a:r>
          </a:p>
        </p:txBody>
      </p:sp>
      <p:pic>
        <p:nvPicPr>
          <p:cNvPr id="7" name="Picture 6" descr="ang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3049341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52160" y="219456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เวอร์ชันแรกบรรยายว่า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651760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52657D"/>
                </a:solidFill>
                <a:latin typeface="Thonburi"/>
              </a:rPr>
              <a:t>“ชายหนุ่มหน้าตาใจดี</a:t>
            </a:r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52657D"/>
                </a:solidFill>
                <a:latin typeface="Thonburi"/>
              </a:rPr>
              <a:t>กำลังส่งยิ้มทะเล้นให้คุณ”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11480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565D8"/>
                </a:solidFill>
                <a:latin typeface="Thonburi"/>
              </a:rPr>
              <a:t>หลังแก้ระบบ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572000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“ชายคนหนึ่งกำลังทำหน้าตาโกรธจัด</a:t>
            </a:r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1565D8"/>
                </a:solidFill>
                <a:latin typeface="Thonburi"/>
              </a:rPr>
              <a:t>คิ้วขมวดแน่นจนหน้าผากย่น”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57D"/>
                </a:solidFill>
                <a:latin typeface="Thonburi"/>
              </a:rPr>
              <a:t>ถ้าผู้ใช้ได้ยินประโยคแรก เขาจะเดินเข้าไปคุยต่อ ทั้งที่อีกฝ่ายกำลังโกรธ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7 · ผลวัด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ทำงานได้จริงบนเครื่องธรรมดา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947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เฟรมต่อวินาที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วิดีโอไม่กระตุก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3774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2.2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7947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วินาที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ตั้งแต่เห็นจนพูดออกมา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37744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7200" b="1">
                <a:solidFill>
                  <a:srgbClr val="1565D8"/>
                </a:solidFill>
                <a:latin typeface="Thonbur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37947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ครั้งที่ระบบค้าง</a:t>
            </a:r>
          </a:p>
          <a:p>
            <a:pPr algn="ctr">
              <a:lnSpc>
                <a:spcPct val="125000"/>
              </a:lnSpc>
            </a:pPr>
            <a:r>
              <a:rPr sz="1600" b="0">
                <a:solidFill>
                  <a:srgbClr val="142D4E"/>
                </a:solidFill>
                <a:latin typeface="Thonburi"/>
              </a:rPr>
              <a:t>ตลอดการทดสอบ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8 · ก้าวต่อไป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แผนสร้างและทดลอง ภายใน 12 สัปดาห์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565D8"/>
                </a:solidFill>
                <a:latin typeface="Thonburi"/>
              </a:rPr>
              <a:t>W1–2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42D4E"/>
                </a:solidFill>
                <a:latin typeface="Thonburi"/>
              </a:rPr>
              <a:t>เก็บข้อมูลผู้ใช้จริง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57600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สัมภาษณ์ผู้ใช้ 10 คน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ผ่านสมาคมคนตาบอดฯ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23774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565D8"/>
                </a:solidFill>
                <a:latin typeface="Thonburi"/>
              </a:rPr>
              <a:t>W3–6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292608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42D4E"/>
                </a:solidFill>
                <a:latin typeface="Thonburi"/>
              </a:rPr>
              <a:t>ต่อโมดูลจริง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3657600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MediaPipe + ตัวจำแนกอารมณ์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YOLO11-Pose อ่านท่าทาง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23774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565D8"/>
                </a:solidFill>
                <a:latin typeface="Thonburi"/>
              </a:rPr>
              <a:t>W7–10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292608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42D4E"/>
                </a:solidFill>
                <a:latin typeface="Thonburi"/>
              </a:rPr>
              <a:t>ทดลองกับผู้ใช้จริง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3657600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ใช้จริง 10 คน 2 สัปดาห์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วัดความถูกต้องและความพอใจ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98864" y="23774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1565D8"/>
                </a:solidFill>
                <a:latin typeface="Thonburi"/>
              </a:rPr>
              <a:t>W11–12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98864" y="2926080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42D4E"/>
                </a:solidFill>
                <a:latin typeface="Thonburi"/>
              </a:rPr>
              <a:t>สรุปและตัดสิน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8864" y="3657600"/>
            <a:ext cx="2697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ประเมินผล ทบทวนปัญหา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วางแผนขยาย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5778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1565D8"/>
                </a:solidFill>
                <a:latin typeface="Thonburi"/>
              </a:rPr>
              <a:t>เกณฑ์ที่ถือว่าผ่าน : อ่านอารมณ์ถูก ≥ 80%  ·  บรรยายสิ่งที่ไม่มีจริง ≤ 10%  ·  พูดภายใน ≤ 3 วินาที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1565D8"/>
                </a:solidFill>
                <a:latin typeface="Thonburi"/>
              </a:rPr>
              <a:t>องก์ 8 · ทีม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42D4E"/>
                </a:solidFill>
                <a:latin typeface="Thonburi"/>
              </a:rPr>
              <a:t>ทีม Rushhour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52657D"/>
                </a:solidFill>
                <a:latin typeface="Thonburi"/>
              </a:rPr>
              <a:t>วิศวกรรมคอมพิวเตอร์และเทคโนโลยีดิจิทัล (CEDT) จุฬาลงกรณ์มหาวิทยาลัย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42D4E"/>
                </a:solidFill>
                <a:latin typeface="Thonburi"/>
              </a:rPr>
              <a:t>กิตติพงศ์ สมสอาด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49039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ใส่บทบาท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42D4E"/>
                </a:solidFill>
                <a:latin typeface="Thonburi"/>
              </a:rPr>
              <a:t>ชินพัฒน์ ขุนเจริญ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749039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ใส่บทบาท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42D4E"/>
                </a:solidFill>
                <a:latin typeface="Thonburi"/>
              </a:rPr>
              <a:t>เรข์ณพัศ สุวรรณปริสุทธิ์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749039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ใส่บทบาท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52657D"/>
                </a:solidFill>
                <a:latin typeface="Thonburi"/>
              </a:rPr>
              <a:t>— ใส่สกิล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16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3800" b="1">
                <a:solidFill>
                  <a:srgbClr val="52657D"/>
                </a:solidFill>
                <a:latin typeface="Thonburi"/>
              </a:rPr>
              <a:t>เขาเงียบเพราะกำลังคิด</a:t>
            </a:r>
          </a:p>
          <a:p>
            <a:pPr algn="ctr">
              <a:lnSpc>
                <a:spcPct val="135000"/>
              </a:lnSpc>
            </a:pPr>
            <a:r>
              <a:rPr sz="3800" b="1">
                <a:solidFill>
                  <a:srgbClr val="52657D"/>
                </a:solidFill>
                <a:latin typeface="Thonburi"/>
              </a:rPr>
              <a:t>หรือเพราะกำลังโกรธ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sz="3600" b="1">
                <a:solidFill>
                  <a:srgbClr val="142D4E"/>
                </a:solidFill>
                <a:latin typeface="Thonburi"/>
              </a:rPr>
              <a:t>วันนี้เราตอบให้เขาได้แล้ว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9377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1565D8"/>
                </a:solidFill>
                <a:latin typeface="Thonburi"/>
              </a:rPr>
              <a:t>เห็นใจ — มองไม่เห็น ก็เห็นใจกันได้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42D4E"/>
                </a:solidFill>
                <a:latin typeface="Thonburi"/>
              </a:rPr>
              <a:t>สถาปัตยกรรมตามเอกสารแนวคิด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914400"/>
            <a:ext cx="4263601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TRUE INNOVATION LAUNCHPAD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74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>
                <a:solidFill>
                  <a:srgbClr val="52657D"/>
                </a:solidFill>
                <a:latin typeface="Thonburi"/>
              </a:rPr>
              <a:t>เห็นใจ · HENJAI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42D4E"/>
                </a:solidFill>
                <a:latin typeface="Thonburi"/>
              </a:rPr>
              <a:t>ที่มาข้อมูล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11155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กรมส่งเสริมและพัฒนาคุณภาพชีวิตคนพิการ (พก.) — รายงานข้อมูลสถานการณ์ด้านคนพิการ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    ข้อมูล ณ 31 ก.ค. 2569 · dep.go.th/images/uploads/files/Dashboard072569.pdf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สำนักงานสถิติแห่งชาติ — การสำรวจความพิการ พ.ศ. 2565 (ร่วมกับ UNICEF)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    nso.go.th/nsoweb/storage/survey_detail/2023/20230725162812_14118.pdf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WHO — Blindness and vision impairment fact sheet (ปรับปรุง 10 ก.พ. 2026)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    who.int/news-room/fact-sheets/detail/blindness-and-visual-impairment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IAPB Vision Atlas — Thailand country data · visionatlas.iapb.org/country-data/thailand/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2657D"/>
                </a:solidFill>
                <a:latin typeface="Thonburi"/>
              </a:rPr>
              <a:t>ภาพทดสอบทั้งหมดจาก Openverse เฉพาะสัญญาอนุญาตที่ใช้ได้ — รายชื่อผู้สร้างครบใน poc/eval/manifest.json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