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6" r:id="rId37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142D4E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1565D8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42D4E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EAF2FF"/>
          </a:solidFill>
          <a:ln>
            <a:solidFill>
              <a:srgbClr val="526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2657D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เทคโนโลยีทุกวันนี้บอกได้แค่นี้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</a:rPr>
              <a:t>สิ่งที่เขาต้องการจริง 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142D4E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1565D8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สมมติฐานเพื่อทดสอบกับผู้ใช้ ยังไม่ใช่ผลสัมภาษณ์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User Insight: ความเงียบที่ตีความไม่ได้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0972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สถานการณ์สมมติ: ผู้มีความบกพร่องทางการเห็นคุยกับเพื่อน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เมื่ออีกฝ่ายเงียบ จึงไม่แน่ใจว่ากำลังคิดหรือไม่พอใจ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พฤติกรรมที่คาด: หยุดพูดหรือถามย้ำเพื่อเช็กความรู้สึก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ความต้องการที่คาด: คำบอกใบหน้าสั้น ๆ เฉพาะจังหวะสำคัญ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แนวทางออกแบบ: บอกสัญญาณที่เห็น พร้อมความไม่แน่ใจ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ยืนยันสมมติฐานด้วยการสัมภาษณ์และทดลองกับผู้ใช้จริง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ของที่มีอยู่แล้ว บอกได้แค่ไหน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52657D"/>
                </a:solidFill>
                <a:latin typeface="Thonburi"/>
              </a:rPr>
              <a:t>ที่มีอยู่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“มีคนหนึ่งคน</a:t>
            </a:r>
          </a:p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มีโต๊ะอยู่ทางขวา”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บอกสิ่งที่เห็น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เห็นใจ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“ชายตรงหน้าคุณกำลังโกรธ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บอกความหมาย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52657D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52657D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565D8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2657D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565D8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142D4E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การวัดผลและแผนประเมินร่วมกับผู้เชี่ยวชาญ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แผนเก็บภาพขณะใช้งานในชีวิตประจำวัน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ชุดทดสอบใหม่ที่วางแผนเก็บในระยะถัดไป ไม่ใช่ชุดที่ใช้รายงานผลเบื้องต้น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65176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ระหว่างพูดคุย เดินทาง และใช้พื้นที่สาธารณะ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ครอบคลุมสีหน้า ภาษากาย และสภาพแวดล้อม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เก็บภาพโดยได้รับความยินยอมจากผู้เกี่ยวข้อง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44348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แผนประเมินระยะถัดไป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4937760"/>
            <a:ext cx="7040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ให้ผู้เชี่ยวชาญด้านการมองเห็นร่วมกำหนดเกณฑ์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ทบทวนความเหมาะสมและความเสี่ยงของคำบรรยาย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ทดลองกับผู้ใช้ 10 คน และบันทึกผลตาม KPI</a:t>
            </a:r>
          </a:p>
        </p:txBody>
      </p:sp>
      <p:sp>
        <p:nvSpPr>
          <p:cNvPr id="40" name="Expert photo placeholder"/>
          <p:cNvSpPr/>
          <p:nvPr/>
        </p:nvSpPr>
        <p:spPr>
          <a:xfrm>
            <a:off x="8275320" y="1874520"/>
            <a:ext cx="33832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1"/>
          <p:cNvSpPr txBox="1"/>
          <p:nvPr/>
        </p:nvSpPr>
        <p:spPr>
          <a:xfrm>
            <a:off x="8275320" y="5349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ผู้เชี่ยวชาญด้านการมองเห็น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แผนเชิญร่วมประเมิน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Roadmap 12 สัปดาห์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2057400"/>
          <a:ext cx="11155680" cy="3840480"/>
        </p:xfrm>
        <a:graphic>
          <a:graphicData uri="http://schemas.openxmlformats.org/drawingml/2006/table">
            <a:tbl>
              <a:tblPr firstRow="1" bandRow="0"/>
              <a:tblGrid>
                <a:gridCol w="2194560"/>
                <a:gridCol w="4206240"/>
                <a:gridCol w="4754880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สัปดาห์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งานหลัก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ผลที่ได้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1–2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สัมภาษณ์ผู้ใช้ 10 คน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ความต้องการและเกณฑ์ประเมิน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3–6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พัฒนาระบบ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ปรับคำบรรยายและการแจ้งเตือน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7–10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 10 คน / 2 สัปดาห์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ผลทดสอบและข้อเสนอแนะ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11–12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ประเมินร่วมกับผู้เชี่ยวชาญ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สรุปผลตาม KPI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42D4E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KPI เป้าหมายในการทดลอง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02920" y="1874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เป้าหมายสำหรับการประเมินระยะถัดไป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02920" y="2788920"/>
            <a:ext cx="3520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≥80%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02920" y="416052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อ่านอารมณ์ถูก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02920" y="4937760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จำนวนคำตอบถูก / ภาพที่ทดสอบ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361688" y="2788920"/>
            <a:ext cx="3520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≤10%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361688" y="416052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บรรยายสิ่งที่ไม่มีจริง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361688" y="4937760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ครั้งที่บรรยายเกินภาพ / ครั้งทั้งหมด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220456" y="2788920"/>
            <a:ext cx="3520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≤3 วินาที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220456" y="416052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เวลาเริ่มตอบสนอง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220456" y="4937760"/>
            <a:ext cx="3520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ตั้งแต่รับภาพจนเริ่มพูด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029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เป็นเกณฑ์เป้าหมาย ยังไม่ใช่ผลที่ผ่านแล้ว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